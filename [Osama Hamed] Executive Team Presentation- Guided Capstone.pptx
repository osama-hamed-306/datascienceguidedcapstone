
<file path=[Content_Types].xml><?xml version="1.0" encoding="utf-8"?>
<Types xmlns="http://schemas.openxmlformats.org/package/2006/content-types">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8" r:id="rId3"/>
    <p:sldId id="262" r:id="rId4"/>
    <p:sldId id="264" r:id="rId5"/>
    <p:sldId id="265" r:id="rId6"/>
    <p:sldId id="266" r:id="rId7"/>
    <p:sldId id="267" r:id="rId8"/>
    <p:sldId id="268" r:id="rId9"/>
    <p:sldId id="269" r:id="rId10"/>
    <p:sldId id="259" r:id="rId11"/>
    <p:sldId id="261" r:id="rId12"/>
    <p:sldId id="271" r:id="rId1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r:id="rId15" roundtripDataSignature="AMtx7mjdo7FECp685JsX7/4pIVeoAktj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4660"/>
  </p:normalViewPr>
  <p:slideViewPr>
    <p:cSldViewPr snapToGrid="0">
      <p:cViewPr>
        <p:scale>
          <a:sx n="133" d="100"/>
          <a:sy n="133" d="100"/>
        </p:scale>
        <p:origin x="2096" y="768"/>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AU"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2</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4059117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3</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1733643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4</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2822993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5</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3046965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6</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2208873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7</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1060016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8</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503169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9</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3448843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10</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421398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11</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2780233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
        <p:cNvGrpSpPr/>
        <p:nvPr/>
      </p:nvGrpSpPr>
      <p:grpSpPr>
        <a:xfrm>
          <a:off x="0" y="0"/>
          <a:ext cx="0" cy="0"/>
          <a:chOff x="0" y="0"/>
          <a:chExt cx="0" cy="0"/>
        </a:xfrm>
      </p:grpSpPr>
      <p:sp>
        <p:nvSpPr>
          <p:cNvPr id="16" name="Google Shape;16;p1:notes"/>
          <p:cNvSpPr txBox="1">
            <a:spLocks noGrp="1"/>
          </p:cNvSpPr>
          <p:nvPr>
            <p:ph type="sldNum" idx="12"/>
          </p:nvPr>
        </p:nvSpPr>
        <p:spPr>
          <a:xfrm>
            <a:off x="6042320" y="9493393"/>
            <a:ext cx="169918" cy="18466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AU" sz="1800" b="0" i="0" u="none" strike="noStrike" cap="none">
                <a:solidFill>
                  <a:srgbClr val="000000"/>
                </a:solidFill>
              </a:rPr>
              <a:t>12</a:t>
            </a:fld>
            <a:endParaRPr sz="1800" b="0" i="0" u="none" strike="noStrike" cap="none">
              <a:solidFill>
                <a:srgbClr val="000000"/>
              </a:solidFill>
            </a:endParaRPr>
          </a:p>
        </p:txBody>
      </p:sp>
      <p:sp>
        <p:nvSpPr>
          <p:cNvPr id="17" name="Google Shape;17;p1:notes"/>
          <p:cNvSpPr>
            <a:spLocks noGrp="1" noRot="1" noChangeAspect="1"/>
          </p:cNvSpPr>
          <p:nvPr>
            <p:ph type="sldImg" idx="2"/>
          </p:nvPr>
        </p:nvSpPr>
        <p:spPr>
          <a:xfrm>
            <a:off x="-2319338" y="1265238"/>
            <a:ext cx="11201401" cy="840105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 name="Google Shape;18;p1:notes"/>
          <p:cNvSpPr txBox="1">
            <a:spLocks noGrp="1"/>
          </p:cNvSpPr>
          <p:nvPr>
            <p:ph type="body" idx="1"/>
          </p:nvPr>
        </p:nvSpPr>
        <p:spPr>
          <a:xfrm>
            <a:off x="789535" y="605318"/>
            <a:ext cx="5470797" cy="246221"/>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b="1" dirty="0"/>
          </a:p>
        </p:txBody>
      </p:sp>
    </p:spTree>
    <p:extLst>
      <p:ext uri="{BB962C8B-B14F-4D97-AF65-F5344CB8AC3E}">
        <p14:creationId xmlns:p14="http://schemas.microsoft.com/office/powerpoint/2010/main" val="1348563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p:nvPr/>
        </p:nvSpPr>
        <p:spPr>
          <a:xfrm>
            <a:off x="8298444" y="37255"/>
            <a:ext cx="670614" cy="12472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816"/>
              <a:buFont typeface="Arial"/>
              <a:buNone/>
            </a:pPr>
            <a:endParaRPr sz="816" b="0" i="0" u="none" strike="noStrike" cap="none">
              <a:solidFill>
                <a:srgbClr val="000000"/>
              </a:solidFill>
              <a:latin typeface="Arial"/>
              <a:ea typeface="Arial"/>
              <a:cs typeface="Arial"/>
              <a:sym typeface="Arial"/>
            </a:endParaRPr>
          </a:p>
        </p:txBody>
      </p:sp>
      <p:sp>
        <p:nvSpPr>
          <p:cNvPr id="11" name="Google Shape;11;p2"/>
          <p:cNvSpPr txBox="1">
            <a:spLocks noGrp="1"/>
          </p:cNvSpPr>
          <p:nvPr>
            <p:ph type="body" idx="1"/>
          </p:nvPr>
        </p:nvSpPr>
        <p:spPr>
          <a:xfrm>
            <a:off x="2343099" y="2570857"/>
            <a:ext cx="4389768" cy="125611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632" b="0" i="0" u="none" strike="noStrike" cap="none">
                <a:solidFill>
                  <a:schemeClr val="dk1"/>
                </a:solidFill>
                <a:latin typeface="Arial"/>
                <a:ea typeface="Arial"/>
                <a:cs typeface="Arial"/>
                <a:sym typeface="Arial"/>
              </a:defRPr>
            </a:lvl1pPr>
            <a:lvl2pPr marL="914400" marR="0" lvl="1" indent="-358140" algn="l" rtl="0">
              <a:lnSpc>
                <a:spcPct val="100000"/>
              </a:lnSpc>
              <a:spcBef>
                <a:spcPts val="0"/>
              </a:spcBef>
              <a:spcAft>
                <a:spcPts val="0"/>
              </a:spcAft>
              <a:buClr>
                <a:schemeClr val="dk2"/>
              </a:buClr>
              <a:buSzPts val="2040"/>
              <a:buFont typeface="Arial"/>
              <a:buChar char="▪"/>
              <a:defRPr sz="1632" b="0" i="0" u="none" strike="noStrike" cap="none">
                <a:solidFill>
                  <a:schemeClr val="dk1"/>
                </a:solidFill>
                <a:latin typeface="Arial"/>
                <a:ea typeface="Arial"/>
                <a:cs typeface="Arial"/>
                <a:sym typeface="Arial"/>
              </a:defRPr>
            </a:lvl2pPr>
            <a:lvl3pPr marL="1371600" marR="0" lvl="2"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3pPr>
            <a:lvl4pPr marL="1828800" marR="0" lvl="3" indent="-352933" algn="l" rtl="0">
              <a:lnSpc>
                <a:spcPct val="100000"/>
              </a:lnSpc>
              <a:spcBef>
                <a:spcPts val="0"/>
              </a:spcBef>
              <a:spcAft>
                <a:spcPts val="0"/>
              </a:spcAft>
              <a:buClr>
                <a:schemeClr val="dk2"/>
              </a:buClr>
              <a:buSzPts val="1958"/>
              <a:buFont typeface="Arial"/>
              <a:buChar char="▫"/>
              <a:defRPr sz="1632" b="0" i="0" u="none" strike="noStrike" cap="none">
                <a:solidFill>
                  <a:schemeClr val="dk1"/>
                </a:solidFill>
                <a:latin typeface="Arial"/>
                <a:ea typeface="Arial"/>
                <a:cs typeface="Arial"/>
                <a:sym typeface="Arial"/>
              </a:defRPr>
            </a:lvl4pPr>
            <a:lvl5pPr marL="2286000" marR="0" lvl="4"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5pPr>
            <a:lvl6pPr marL="2743200" marR="0" lvl="5"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6pPr>
            <a:lvl7pPr marL="3200400" marR="0" lvl="6" indent="-320801"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7pPr>
            <a:lvl8pPr marL="3657600" marR="0" lvl="7"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8pPr>
            <a:lvl9pPr marL="4114800" marR="0" lvl="8" indent="-320802" algn="l" rtl="0">
              <a:lnSpc>
                <a:spcPct val="100000"/>
              </a:lnSpc>
              <a:spcBef>
                <a:spcPts val="0"/>
              </a:spcBef>
              <a:spcAft>
                <a:spcPts val="0"/>
              </a:spcAft>
              <a:buClr>
                <a:schemeClr val="dk2"/>
              </a:buClr>
              <a:buSzPts val="1452"/>
              <a:buFont typeface="Arial"/>
              <a:buChar char="-"/>
              <a:defRPr sz="1632"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title"/>
          </p:nvPr>
        </p:nvSpPr>
        <p:spPr>
          <a:xfrm>
            <a:off x="174945" y="234863"/>
            <a:ext cx="8794113" cy="298327"/>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000000"/>
              </a:buClr>
              <a:buSzPts val="1400"/>
              <a:buFont typeface="Arial"/>
              <a:buNone/>
              <a:defRPr sz="1939"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939"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tiff"/></Relationships>
</file>

<file path=ppt/slides/_rels/slide7.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tiff"/></Relationships>
</file>

<file path=ppt/slides/_rels/slide8.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tiff"/></Relationships>
</file>

<file path=ppt/slides/_rels/slide9.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tiff"/></Relationships>
</file>

<file path=ppt/slides/_rels/slide10.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file:////Users/osama/Library/Containers/com.microsoft.Word/Data/tmp/WebArchiveCopyPasteTempFiles/c+Zpyc+mHeAAAAABJRU5ErkJgg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137949"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1" name="Google Shape;21;p1"/>
          <p:cNvSpPr/>
          <p:nvPr/>
        </p:nvSpPr>
        <p:spPr>
          <a:xfrm>
            <a:off x="4587388" y="1576013"/>
            <a:ext cx="4344156" cy="4681063"/>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28"/>
              <a:buFont typeface="Arial"/>
              <a:buNone/>
            </a:pPr>
            <a:endParaRPr sz="1428" b="0" i="0" u="none" strike="noStrike" cap="none">
              <a:solidFill>
                <a:srgbClr val="000000"/>
              </a:solidFill>
              <a:latin typeface="Arial"/>
              <a:ea typeface="Arial"/>
              <a:cs typeface="Arial"/>
              <a:sym typeface="Arial"/>
            </a:endParaRPr>
          </a:p>
        </p:txBody>
      </p:sp>
      <p:sp>
        <p:nvSpPr>
          <p:cNvPr id="22" name="Google Shape;22;p1"/>
          <p:cNvSpPr/>
          <p:nvPr/>
        </p:nvSpPr>
        <p:spPr>
          <a:xfrm>
            <a:off x="218936"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1</a:t>
            </a:r>
            <a:endParaRPr sz="1428" b="0" i="0" u="none" strike="noStrike" cap="none">
              <a:solidFill>
                <a:schemeClr val="lt1"/>
              </a:solidFill>
              <a:latin typeface="Arial"/>
              <a:ea typeface="Arial"/>
              <a:cs typeface="Arial"/>
              <a:sym typeface="Arial"/>
            </a:endParaRPr>
          </a:p>
        </p:txBody>
      </p:sp>
      <p:sp>
        <p:nvSpPr>
          <p:cNvPr id="23" name="Google Shape;23;p1"/>
          <p:cNvSpPr/>
          <p:nvPr/>
        </p:nvSpPr>
        <p:spPr>
          <a:xfrm>
            <a:off x="4668375" y="1618127"/>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24" name="Google Shape;24;p1"/>
          <p:cNvSpPr/>
          <p:nvPr/>
        </p:nvSpPr>
        <p:spPr>
          <a:xfrm>
            <a:off x="601195"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Context</a:t>
            </a:r>
            <a:endParaRPr sz="1400" b="0" i="0" u="none" strike="noStrike" cap="none">
              <a:solidFill>
                <a:srgbClr val="000000"/>
              </a:solidFill>
              <a:latin typeface="Arial"/>
              <a:ea typeface="Arial"/>
              <a:cs typeface="Arial"/>
              <a:sym typeface="Arial"/>
            </a:endParaRPr>
          </a:p>
        </p:txBody>
      </p:sp>
      <p:sp>
        <p:nvSpPr>
          <p:cNvPr id="25" name="Google Shape;25;p1"/>
          <p:cNvSpPr/>
          <p:nvPr/>
        </p:nvSpPr>
        <p:spPr>
          <a:xfrm>
            <a:off x="5050634" y="165018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Constraints within solution space</a:t>
            </a:r>
            <a:endParaRPr sz="1400" b="0" i="0" u="none" strike="noStrike" cap="none" dirty="0">
              <a:solidFill>
                <a:srgbClr val="000000"/>
              </a:solidFill>
              <a:latin typeface="Arial"/>
              <a:ea typeface="Arial"/>
              <a:cs typeface="Arial"/>
              <a:sym typeface="Arial"/>
            </a:endParaRPr>
          </a:p>
        </p:txBody>
      </p:sp>
      <p:sp>
        <p:nvSpPr>
          <p:cNvPr id="26" name="Google Shape;26;p1"/>
          <p:cNvSpPr/>
          <p:nvPr/>
        </p:nvSpPr>
        <p:spPr>
          <a:xfrm>
            <a:off x="4668375"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27" name="Google Shape;27;p1"/>
          <p:cNvSpPr/>
          <p:nvPr/>
        </p:nvSpPr>
        <p:spPr>
          <a:xfrm>
            <a:off x="218936" y="320709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2</a:t>
            </a:r>
            <a:endParaRPr sz="1400" b="0" i="0" u="none" strike="noStrike" cap="none" dirty="0">
              <a:solidFill>
                <a:srgbClr val="000000"/>
              </a:solidFill>
              <a:latin typeface="Arial"/>
              <a:ea typeface="Arial"/>
              <a:cs typeface="Arial"/>
              <a:sym typeface="Arial"/>
            </a:endParaRPr>
          </a:p>
        </p:txBody>
      </p:sp>
      <p:sp>
        <p:nvSpPr>
          <p:cNvPr id="28" name="Google Shape;28;p1"/>
          <p:cNvSpPr/>
          <p:nvPr/>
        </p:nvSpPr>
        <p:spPr>
          <a:xfrm>
            <a:off x="601195"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Criteria for success</a:t>
            </a:r>
            <a:endParaRPr sz="1400" b="0" i="0" u="none" strike="noStrike" cap="none" dirty="0">
              <a:solidFill>
                <a:srgbClr val="000000"/>
              </a:solidFill>
              <a:latin typeface="Arial"/>
              <a:ea typeface="Arial"/>
              <a:cs typeface="Arial"/>
              <a:sym typeface="Arial"/>
            </a:endParaRPr>
          </a:p>
        </p:txBody>
      </p:sp>
      <p:sp>
        <p:nvSpPr>
          <p:cNvPr id="29" name="Google Shape;29;p1"/>
          <p:cNvSpPr/>
          <p:nvPr/>
        </p:nvSpPr>
        <p:spPr>
          <a:xfrm>
            <a:off x="5050634" y="3239152"/>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dk1"/>
                </a:solidFill>
                <a:latin typeface="Arial"/>
                <a:ea typeface="Arial"/>
                <a:cs typeface="Arial"/>
                <a:sym typeface="Arial"/>
              </a:rPr>
              <a:t>Stakeholders to provide key insight</a:t>
            </a:r>
            <a:endParaRPr sz="1400" b="0" i="0" u="none" strike="noStrike" cap="none" dirty="0">
              <a:solidFill>
                <a:srgbClr val="000000"/>
              </a:solidFill>
              <a:latin typeface="Arial"/>
              <a:ea typeface="Arial"/>
              <a:cs typeface="Arial"/>
              <a:sym typeface="Arial"/>
            </a:endParaRPr>
          </a:p>
        </p:txBody>
      </p:sp>
      <p:sp>
        <p:nvSpPr>
          <p:cNvPr id="30" name="Google Shape;30;p1"/>
          <p:cNvSpPr/>
          <p:nvPr/>
        </p:nvSpPr>
        <p:spPr>
          <a:xfrm>
            <a:off x="218936"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1" name="Google Shape;31;p1"/>
          <p:cNvSpPr/>
          <p:nvPr/>
        </p:nvSpPr>
        <p:spPr>
          <a:xfrm>
            <a:off x="4668375" y="4797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2" name="Google Shape;32;p1"/>
          <p:cNvSpPr/>
          <p:nvPr/>
        </p:nvSpPr>
        <p:spPr>
          <a:xfrm>
            <a:off x="601195" y="4831972"/>
            <a:ext cx="3597454" cy="2197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dk1"/>
                </a:solidFill>
                <a:latin typeface="Arial"/>
                <a:ea typeface="Arial"/>
                <a:cs typeface="Arial"/>
                <a:sym typeface="Arial"/>
              </a:rPr>
              <a:t>Scope of solution space </a:t>
            </a:r>
            <a:endParaRPr sz="1400" b="0" i="0" u="none" strike="noStrike" cap="none">
              <a:solidFill>
                <a:srgbClr val="000000"/>
              </a:solidFill>
              <a:latin typeface="Arial"/>
              <a:ea typeface="Arial"/>
              <a:cs typeface="Arial"/>
              <a:sym typeface="Arial"/>
            </a:endParaRPr>
          </a:p>
        </p:txBody>
      </p:sp>
      <p:sp>
        <p:nvSpPr>
          <p:cNvPr id="33" name="Google Shape;33;p1"/>
          <p:cNvSpPr/>
          <p:nvPr/>
        </p:nvSpPr>
        <p:spPr>
          <a:xfrm>
            <a:off x="5050634" y="4829741"/>
            <a:ext cx="3597454" cy="22420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dirty="0">
                <a:solidFill>
                  <a:schemeClr val="dk1"/>
                </a:solidFill>
              </a:rPr>
              <a:t>Key</a:t>
            </a:r>
            <a:r>
              <a:rPr lang="en-AU" sz="1428" b="0" i="0" u="none" strike="noStrike" cap="none" dirty="0">
                <a:solidFill>
                  <a:schemeClr val="dk1"/>
                </a:solidFill>
                <a:latin typeface="Arial"/>
                <a:ea typeface="Arial"/>
                <a:cs typeface="Arial"/>
                <a:sym typeface="Arial"/>
              </a:rPr>
              <a:t> data sources </a:t>
            </a:r>
            <a:endParaRPr sz="1400" b="0" i="0" u="none" strike="noStrike" cap="none" dirty="0">
              <a:solidFill>
                <a:srgbClr val="000000"/>
              </a:solidFill>
              <a:latin typeface="Arial"/>
              <a:ea typeface="Arial"/>
              <a:cs typeface="Arial"/>
              <a:sym typeface="Arial"/>
            </a:endParaRPr>
          </a:p>
        </p:txBody>
      </p:sp>
      <p:sp>
        <p:nvSpPr>
          <p:cNvPr id="34" name="Google Shape;34;p1"/>
          <p:cNvSpPr txBox="1"/>
          <p:nvPr/>
        </p:nvSpPr>
        <p:spPr>
          <a:xfrm>
            <a:off x="143108" y="1852301"/>
            <a:ext cx="4324418" cy="130475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a:solidFill>
                  <a:srgbClr val="000000"/>
                </a:solidFill>
                <a:latin typeface="Arial"/>
                <a:ea typeface="Arial"/>
                <a:cs typeface="Arial"/>
                <a:sym typeface="Arial"/>
              </a:rPr>
              <a:t>&lt;Why are </a:t>
            </a:r>
            <a:r>
              <a:rPr lang="en-AU" sz="1070" b="1" dirty="0"/>
              <a:t>you</a:t>
            </a:r>
            <a:r>
              <a:rPr lang="en-AU" sz="1070" b="1" i="0" u="none" strike="noStrike" cap="none" dirty="0">
                <a:solidFill>
                  <a:srgbClr val="000000"/>
                </a:solidFill>
                <a:latin typeface="Arial"/>
                <a:ea typeface="Arial"/>
                <a:cs typeface="Arial"/>
                <a:sym typeface="Arial"/>
              </a:rPr>
              <a:t> </a:t>
            </a:r>
            <a:r>
              <a:rPr lang="en-AU" sz="1070" b="1" dirty="0"/>
              <a:t>working on this problem</a:t>
            </a:r>
            <a:r>
              <a:rPr lang="en-AU" sz="1070" b="1" i="0" u="none" strike="noStrike" cap="none" dirty="0">
                <a:solidFill>
                  <a:srgbClr val="000000"/>
                </a:solidFill>
                <a:latin typeface="Arial"/>
                <a:ea typeface="Arial"/>
                <a:cs typeface="Arial"/>
                <a:sym typeface="Arial"/>
              </a:rPr>
              <a:t>?&gt;</a:t>
            </a:r>
          </a:p>
          <a:p>
            <a:pPr lvl="0"/>
            <a:r>
              <a:rPr lang="en-US" sz="1000" dirty="0"/>
              <a:t>The business has an insufficient pricing strategy to offset a $1,540,000 operational cost increase per season, we will create a market analysis of 330 different competitors to identify the value of the business amenities and facilities to help the business make a more data driven pricing strategy of either supporting a higher ticket price or cutting costs on certain amenities or facilities before the start of the upcoming season</a:t>
            </a:r>
            <a:endParaRPr sz="1000" dirty="0"/>
          </a:p>
        </p:txBody>
      </p:sp>
      <p:sp>
        <p:nvSpPr>
          <p:cNvPr id="35" name="Google Shape;35;p1"/>
          <p:cNvSpPr txBox="1"/>
          <p:nvPr/>
        </p:nvSpPr>
        <p:spPr>
          <a:xfrm>
            <a:off x="121750" y="3545446"/>
            <a:ext cx="4324418" cy="14106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1" i="0" u="none" strike="noStrike" cap="none" dirty="0">
                <a:solidFill>
                  <a:srgbClr val="000000"/>
                </a:solidFill>
                <a:latin typeface="Arial"/>
                <a:ea typeface="Arial"/>
                <a:cs typeface="Arial"/>
                <a:sym typeface="Arial"/>
              </a:rPr>
              <a:t>&lt;What is the key criteria </a:t>
            </a:r>
            <a:r>
              <a:rPr lang="en-AU" sz="1071" b="1" dirty="0"/>
              <a:t>that</a:t>
            </a:r>
            <a:r>
              <a:rPr lang="en-AU" sz="1071" b="1" i="0" u="none" strike="noStrike" cap="none" dirty="0">
                <a:solidFill>
                  <a:srgbClr val="000000"/>
                </a:solidFill>
                <a:latin typeface="Arial"/>
                <a:ea typeface="Arial"/>
                <a:cs typeface="Arial"/>
                <a:sym typeface="Arial"/>
              </a:rPr>
              <a:t> will deem this work </a:t>
            </a:r>
            <a:r>
              <a:rPr lang="en-AU" sz="1071" b="1" dirty="0"/>
              <a:t>successful</a:t>
            </a:r>
            <a:r>
              <a:rPr lang="en-AU" sz="1071" b="1" i="0" u="none" strike="noStrike" cap="none" dirty="0">
                <a:solidFill>
                  <a:srgbClr val="000000"/>
                </a:solidFill>
                <a:latin typeface="Arial"/>
                <a:ea typeface="Arial"/>
                <a:cs typeface="Arial"/>
                <a:sym typeface="Arial"/>
              </a:rPr>
              <a:t>?&gt;</a:t>
            </a:r>
          </a:p>
          <a:p>
            <a:pPr marL="0" marR="0" lvl="0" indent="0" algn="l" rtl="0">
              <a:lnSpc>
                <a:spcPct val="100000"/>
              </a:lnSpc>
              <a:spcBef>
                <a:spcPts val="0"/>
              </a:spcBef>
              <a:spcAft>
                <a:spcPts val="0"/>
              </a:spcAft>
              <a:buNone/>
            </a:pPr>
            <a:endParaRPr lang="en-AU" sz="800" b="1" dirty="0"/>
          </a:p>
          <a:p>
            <a:pPr lvl="0"/>
            <a:r>
              <a:rPr lang="en-US" sz="800" b="1" dirty="0"/>
              <a:t>Recommending a ticket price based on the market research of 330 different competitors and identifying the value of each amenities and facilities and their contribution to the ticket price before the start of the next skiing season</a:t>
            </a:r>
            <a:endParaRPr sz="800" b="1" i="0" u="none" strike="noStrike" cap="none" dirty="0">
              <a:solidFill>
                <a:srgbClr val="000000"/>
              </a:solidFill>
              <a:latin typeface="Arial"/>
              <a:ea typeface="Arial"/>
              <a:cs typeface="Arial"/>
              <a:sym typeface="Arial"/>
            </a:endParaRPr>
          </a:p>
        </p:txBody>
      </p:sp>
      <p:sp>
        <p:nvSpPr>
          <p:cNvPr id="36" name="Google Shape;36;p1"/>
          <p:cNvSpPr txBox="1"/>
          <p:nvPr/>
        </p:nvSpPr>
        <p:spPr>
          <a:xfrm>
            <a:off x="121750" y="5176455"/>
            <a:ext cx="4324418" cy="751488"/>
          </a:xfrm>
          <a:prstGeom prst="rect">
            <a:avLst/>
          </a:prstGeom>
          <a:noFill/>
          <a:ln>
            <a:noFill/>
          </a:ln>
        </p:spPr>
        <p:txBody>
          <a:bodyPr spcFirstLastPara="1" wrap="square" lIns="91425" tIns="45700" rIns="91425" bIns="45700" anchor="t" anchorCtr="0">
            <a:noAutofit/>
          </a:bodyPr>
          <a:lstStyle/>
          <a:p>
            <a:pPr lvl="0"/>
            <a:r>
              <a:rPr lang="en-AU" sz="1071" b="0" i="0" u="none" strike="noStrike" cap="none" dirty="0">
                <a:solidFill>
                  <a:srgbClr val="000000"/>
                </a:solidFill>
                <a:latin typeface="Arial"/>
                <a:ea typeface="Arial"/>
                <a:cs typeface="Arial"/>
                <a:sym typeface="Arial"/>
              </a:rPr>
              <a:t>&lt;</a:t>
            </a:r>
            <a:r>
              <a:rPr lang="en-AU" sz="1071" b="1" i="0" u="none" strike="noStrike" cap="none" dirty="0">
                <a:solidFill>
                  <a:srgbClr val="000000"/>
                </a:solidFill>
                <a:latin typeface="Arial"/>
                <a:ea typeface="Arial"/>
                <a:cs typeface="Arial"/>
                <a:sym typeface="Arial"/>
              </a:rPr>
              <a:t>What is the focus of this business initiative? </a:t>
            </a:r>
            <a:r>
              <a:rPr lang="en-AU" sz="1071" b="1"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0"/>
                  </a:ext>
                </a:extLst>
              </a:rPr>
              <a:t>I.e. What are </a:t>
            </a:r>
            <a:r>
              <a:rPr lang="en-AU" sz="1071" b="1"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1"/>
                  </a:ext>
                </a:extLst>
              </a:rPr>
              <a:t>the</a:t>
            </a:r>
            <a:r>
              <a:rPr lang="en-AU" sz="1071" b="1"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2"/>
                  </a:ext>
                </a:extLst>
              </a:rPr>
              <a:t> </a:t>
            </a:r>
            <a:r>
              <a:rPr lang="en-AU" sz="1071" b="1" dirty="0">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3"/>
                  </a:ext>
                </a:extLst>
              </a:rPr>
              <a:t>specific items you will you focus on exclusively</a:t>
            </a:r>
            <a:r>
              <a:rPr lang="en-AU" sz="1071" b="1" i="0" u="none" strike="noStrike" cap="none" dirty="0">
                <a:solidFill>
                  <a:srgbClr val="000000"/>
                </a:solidFill>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textRoundtripDataId="4"/>
                  </a:ext>
                </a:extLst>
              </a:rPr>
              <a:t>?</a:t>
            </a:r>
            <a:r>
              <a:rPr lang="en-AU" sz="1071" b="1" dirty="0"/>
              <a:t>&gt;</a:t>
            </a:r>
          </a:p>
          <a:p>
            <a:pPr lvl="0"/>
            <a:endParaRPr lang="en-AU" sz="1071" b="1" dirty="0"/>
          </a:p>
          <a:p>
            <a:pPr lvl="0"/>
            <a:r>
              <a:rPr lang="en-US" sz="800" b="1" dirty="0"/>
              <a:t>Conducting a market research with 330 different competitor data to identify the value of the companies amenities and facilities and how they compare to others, and will that justify a higher ticket price or can we cut costs on certain amenities and facilities </a:t>
            </a:r>
            <a:endParaRPr sz="800" b="0" i="0" u="none" strike="noStrike" cap="none" dirty="0">
              <a:solidFill>
                <a:srgbClr val="000000"/>
              </a:solidFill>
              <a:latin typeface="Arial"/>
              <a:ea typeface="Arial"/>
              <a:cs typeface="Arial"/>
              <a:sym typeface="Arial"/>
            </a:endParaRPr>
          </a:p>
        </p:txBody>
      </p:sp>
      <p:sp>
        <p:nvSpPr>
          <p:cNvPr id="37" name="Google Shape;37;p1"/>
          <p:cNvSpPr txBox="1"/>
          <p:nvPr/>
        </p:nvSpPr>
        <p:spPr>
          <a:xfrm>
            <a:off x="4556613" y="1845985"/>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a:solidFill>
                  <a:srgbClr val="000000"/>
                </a:solidFill>
                <a:latin typeface="Arial"/>
                <a:ea typeface="Arial"/>
                <a:cs typeface="Arial"/>
                <a:sym typeface="Arial"/>
              </a:rPr>
              <a:t>&lt;What constraints exist </a:t>
            </a:r>
            <a:r>
              <a:rPr lang="en-AU" sz="1070" b="1" dirty="0"/>
              <a:t>that may</a:t>
            </a:r>
            <a:r>
              <a:rPr lang="en-AU" sz="1070" b="1" i="0" u="none" strike="noStrike" cap="none" dirty="0">
                <a:solidFill>
                  <a:srgbClr val="000000"/>
                </a:solidFill>
                <a:latin typeface="Arial"/>
                <a:ea typeface="Arial"/>
                <a:cs typeface="Arial"/>
                <a:sym typeface="Arial"/>
              </a:rPr>
              <a:t> prevent this business initiative from succeeding?&gt;</a:t>
            </a:r>
          </a:p>
          <a:p>
            <a:pPr marL="0" marR="0" lvl="0" indent="0" algn="l" rtl="0">
              <a:lnSpc>
                <a:spcPct val="100000"/>
              </a:lnSpc>
              <a:spcBef>
                <a:spcPts val="0"/>
              </a:spcBef>
              <a:spcAft>
                <a:spcPts val="0"/>
              </a:spcAft>
              <a:buNone/>
            </a:pPr>
            <a:endParaRPr lang="en-AU" sz="800" b="1" dirty="0"/>
          </a:p>
          <a:p>
            <a:pPr lvl="0"/>
            <a:r>
              <a:rPr lang="en-US" sz="800" b="1" dirty="0"/>
              <a:t>Data quality and restrictions </a:t>
            </a:r>
          </a:p>
          <a:p>
            <a:pPr lvl="0"/>
            <a:endParaRPr lang="en-US" sz="800" b="1" dirty="0"/>
          </a:p>
          <a:p>
            <a:pPr lvl="0"/>
            <a:r>
              <a:rPr lang="en-US" sz="800" b="1" dirty="0"/>
              <a:t>If the company is a pony and one of a kind and does not really compare much to its competitors then the model may under-predict its true value.</a:t>
            </a:r>
          </a:p>
          <a:p>
            <a:pPr lvl="0"/>
            <a:endParaRPr lang="en-US" sz="800" b="1" dirty="0"/>
          </a:p>
          <a:p>
            <a:pPr lvl="0"/>
            <a:endParaRPr lang="en-US" sz="800" b="1" dirty="0"/>
          </a:p>
          <a:p>
            <a:pPr marL="0" marR="0" lvl="0" indent="0" algn="l" rtl="0">
              <a:lnSpc>
                <a:spcPct val="100000"/>
              </a:lnSpc>
              <a:spcBef>
                <a:spcPts val="0"/>
              </a:spcBef>
              <a:spcAft>
                <a:spcPts val="0"/>
              </a:spcAft>
              <a:buNone/>
            </a:pPr>
            <a:endParaRPr lang="en-AU" sz="1070" b="1" dirty="0"/>
          </a:p>
          <a:p>
            <a:pPr marL="0" marR="0" lvl="0" indent="0" algn="l" rtl="0">
              <a:lnSpc>
                <a:spcPct val="100000"/>
              </a:lnSpc>
              <a:spcBef>
                <a:spcPts val="0"/>
              </a:spcBef>
              <a:spcAft>
                <a:spcPts val="0"/>
              </a:spcAft>
              <a:buNone/>
            </a:pPr>
            <a:endParaRPr lang="en-AU" sz="1070" b="1" i="0" u="none" strike="noStrike" cap="none" dirty="0">
              <a:solidFill>
                <a:srgbClr val="000000"/>
              </a:solidFill>
              <a:latin typeface="Arial"/>
              <a:ea typeface="Arial"/>
              <a:cs typeface="Arial"/>
              <a:sym typeface="Arial"/>
            </a:endParaRPr>
          </a:p>
        </p:txBody>
      </p:sp>
      <p:sp>
        <p:nvSpPr>
          <p:cNvPr id="38" name="Google Shape;38;p1"/>
          <p:cNvSpPr txBox="1"/>
          <p:nvPr/>
        </p:nvSpPr>
        <p:spPr>
          <a:xfrm>
            <a:off x="4590928" y="5085174"/>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0" b="1" i="0" u="none" strike="noStrike" cap="none" dirty="0">
                <a:solidFill>
                  <a:srgbClr val="000000"/>
                </a:solidFill>
                <a:latin typeface="Arial"/>
                <a:ea typeface="Arial"/>
                <a:cs typeface="Arial"/>
                <a:sym typeface="Arial"/>
              </a:rPr>
              <a:t>&lt;What are the key pieces of data </a:t>
            </a:r>
            <a:r>
              <a:rPr lang="en-AU" sz="1070" b="1" dirty="0"/>
              <a:t>you</a:t>
            </a:r>
            <a:r>
              <a:rPr lang="en-AU" sz="1070" b="1" i="0" u="none" strike="noStrike" cap="none" dirty="0">
                <a:solidFill>
                  <a:srgbClr val="000000"/>
                </a:solidFill>
                <a:latin typeface="Arial"/>
                <a:ea typeface="Arial"/>
                <a:cs typeface="Arial"/>
                <a:sym typeface="Arial"/>
              </a:rPr>
              <a:t> need to answer the questions </a:t>
            </a:r>
            <a:r>
              <a:rPr lang="en-AU" sz="1070" b="1" dirty="0"/>
              <a:t>related to the </a:t>
            </a:r>
            <a:r>
              <a:rPr lang="en-AU" sz="1070" b="1" i="0" u="none" strike="noStrike" cap="none" dirty="0">
                <a:solidFill>
                  <a:srgbClr val="000000"/>
                </a:solidFill>
                <a:latin typeface="Arial"/>
                <a:ea typeface="Arial"/>
                <a:cs typeface="Arial"/>
                <a:sym typeface="Arial"/>
              </a:rPr>
              <a:t>problem</a:t>
            </a:r>
            <a:r>
              <a:rPr lang="en-AU" sz="1070" b="1" dirty="0"/>
              <a:t> you</a:t>
            </a:r>
            <a:r>
              <a:rPr lang="en-AU" sz="1070" b="1" i="0" u="none" strike="noStrike" cap="none" dirty="0">
                <a:solidFill>
                  <a:srgbClr val="000000"/>
                </a:solidFill>
                <a:latin typeface="Arial"/>
                <a:ea typeface="Arial"/>
                <a:cs typeface="Arial"/>
                <a:sym typeface="Arial"/>
              </a:rPr>
              <a:t> are trying to solve?&gt;</a:t>
            </a:r>
          </a:p>
          <a:p>
            <a:pPr marL="0" marR="0" lvl="0" indent="0" algn="l" rtl="0">
              <a:lnSpc>
                <a:spcPct val="100000"/>
              </a:lnSpc>
              <a:spcBef>
                <a:spcPts val="0"/>
              </a:spcBef>
              <a:spcAft>
                <a:spcPts val="0"/>
              </a:spcAft>
              <a:buNone/>
            </a:pPr>
            <a:endParaRPr lang="en-AU" sz="1070" b="1" dirty="0"/>
          </a:p>
          <a:p>
            <a:pPr lvl="0"/>
            <a:r>
              <a:rPr lang="en-US" sz="1100" dirty="0"/>
              <a:t>CSV file we got from Alesha Eisen, the database manager</a:t>
            </a:r>
            <a:endParaRPr sz="1070" b="1" i="0" u="none" strike="noStrike" cap="none" dirty="0">
              <a:solidFill>
                <a:srgbClr val="000000"/>
              </a:solidFill>
              <a:latin typeface="Arial"/>
              <a:ea typeface="Arial"/>
              <a:cs typeface="Arial"/>
              <a:sym typeface="Arial"/>
            </a:endParaRPr>
          </a:p>
        </p:txBody>
      </p:sp>
      <p:sp>
        <p:nvSpPr>
          <p:cNvPr id="45" name="Google Shape;45;p1"/>
          <p:cNvSpPr/>
          <p:nvPr/>
        </p:nvSpPr>
        <p:spPr>
          <a:xfrm>
            <a:off x="507251" y="114272"/>
            <a:ext cx="7724912" cy="1137079"/>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732779" y="139448"/>
            <a:ext cx="8793596" cy="30777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AU" sz="2000" dirty="0">
                <a:solidFill>
                  <a:srgbClr val="29748D"/>
                </a:solidFill>
                <a:latin typeface="Quattrocento Sans"/>
                <a:ea typeface="Quattrocento Sans"/>
                <a:cs typeface="Quattrocento Sans"/>
                <a:sym typeface="Quattrocento Sans"/>
              </a:rPr>
              <a:t>Problem Statement Worksheet (Hypothesis Formation)</a:t>
            </a:r>
            <a:endParaRPr dirty="0"/>
          </a:p>
        </p:txBody>
      </p:sp>
      <p:sp>
        <p:nvSpPr>
          <p:cNvPr id="47" name="Google Shape;47;p1"/>
          <p:cNvSpPr txBox="1"/>
          <p:nvPr/>
        </p:nvSpPr>
        <p:spPr>
          <a:xfrm>
            <a:off x="4607126" y="3547600"/>
            <a:ext cx="4324418" cy="10810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AU" sz="1071" b="0" i="0" u="none" strike="noStrike" cap="none" dirty="0">
                <a:solidFill>
                  <a:srgbClr val="000000"/>
                </a:solidFill>
                <a:latin typeface="Arial"/>
                <a:ea typeface="Arial"/>
                <a:cs typeface="Arial"/>
                <a:sym typeface="Arial"/>
              </a:rPr>
              <a:t>&lt;</a:t>
            </a:r>
            <a:r>
              <a:rPr lang="en-AU" sz="1071" b="1" dirty="0"/>
              <a:t>Who</a:t>
            </a:r>
            <a:r>
              <a:rPr lang="en-AU" sz="1071" b="1" i="0" u="none" strike="noStrike" cap="none" dirty="0">
                <a:solidFill>
                  <a:srgbClr val="000000"/>
                </a:solidFill>
                <a:latin typeface="Arial"/>
                <a:ea typeface="Arial"/>
                <a:cs typeface="Arial"/>
                <a:sym typeface="Arial"/>
              </a:rPr>
              <a:t> are the key stakeholders that need to be involved in th</a:t>
            </a:r>
            <a:r>
              <a:rPr lang="en-AU" sz="1071" b="1" dirty="0"/>
              <a:t>is project</a:t>
            </a:r>
            <a:r>
              <a:rPr lang="en-AU" sz="1071" b="1" i="0" u="none" strike="noStrike" cap="none" dirty="0">
                <a:solidFill>
                  <a:srgbClr val="000000"/>
                </a:solidFill>
                <a:latin typeface="Arial"/>
                <a:ea typeface="Arial"/>
                <a:cs typeface="Arial"/>
                <a:sym typeface="Arial"/>
              </a:rPr>
              <a:t>? </a:t>
            </a:r>
            <a:r>
              <a:rPr lang="en-AU" sz="1071" b="1" dirty="0"/>
              <a:t>Where will you source your data from and who will you present your recommendation to once you have identified a solution?</a:t>
            </a:r>
            <a:r>
              <a:rPr lang="en-AU" sz="1071" b="1" i="0" u="none" strike="noStrike" cap="none" dirty="0">
                <a:solidFill>
                  <a:srgbClr val="000000"/>
                </a:solidFill>
                <a:latin typeface="Arial"/>
                <a:ea typeface="Arial"/>
                <a:cs typeface="Arial"/>
                <a:sym typeface="Arial"/>
              </a:rPr>
              <a:t>&gt;</a:t>
            </a:r>
          </a:p>
          <a:p>
            <a:pPr lvl="0"/>
            <a:r>
              <a:rPr lang="en-US" sz="900" dirty="0"/>
              <a:t>Jimmy Blackburn, Director of Operations, </a:t>
            </a:r>
          </a:p>
          <a:p>
            <a:pPr lvl="0"/>
            <a:r>
              <a:rPr lang="en-US" sz="900" dirty="0"/>
              <a:t>Alesha Eisen, Database Manager.</a:t>
            </a:r>
            <a:endParaRPr sz="900" b="0" i="0" u="none" strike="noStrike" cap="none" dirty="0">
              <a:solidFill>
                <a:srgbClr val="000000"/>
              </a:solidFill>
              <a:latin typeface="Arial"/>
              <a:ea typeface="Arial"/>
              <a:cs typeface="Arial"/>
              <a:sym typeface="Arial"/>
            </a:endParaRPr>
          </a:p>
        </p:txBody>
      </p:sp>
      <p:sp>
        <p:nvSpPr>
          <p:cNvPr id="48" name="Google Shape;48;p1"/>
          <p:cNvSpPr txBox="1"/>
          <p:nvPr/>
        </p:nvSpPr>
        <p:spPr>
          <a:xfrm>
            <a:off x="691130" y="452520"/>
            <a:ext cx="7552792" cy="78576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AU" sz="1400" b="1" i="0" u="none" strike="noStrike" cap="none" dirty="0">
                <a:solidFill>
                  <a:srgbClr val="000000"/>
                </a:solidFill>
                <a:latin typeface="Arial"/>
                <a:ea typeface="Arial"/>
                <a:cs typeface="Arial"/>
                <a:sym typeface="Arial"/>
              </a:rPr>
              <a:t>What is the business problem </a:t>
            </a:r>
            <a:r>
              <a:rPr lang="en-AU" b="1" dirty="0"/>
              <a:t>you</a:t>
            </a:r>
            <a:r>
              <a:rPr lang="en-AU" sz="1400" b="1" i="0" u="none" strike="noStrike" cap="none" dirty="0">
                <a:solidFill>
                  <a:srgbClr val="000000"/>
                </a:solidFill>
                <a:latin typeface="Arial"/>
                <a:ea typeface="Arial"/>
                <a:cs typeface="Arial"/>
                <a:sym typeface="Arial"/>
              </a:rPr>
              <a:t> are investigating? </a:t>
            </a:r>
          </a:p>
          <a:p>
            <a:pPr>
              <a:buSzPts val="1400"/>
            </a:pPr>
            <a:r>
              <a:rPr lang="en-US" sz="900" dirty="0"/>
              <a:t>The company have an insufficient pricing strategy, after a cost of $1,540,000 the company is looking to have a data-driven pricing by evaluating their facilities and amenities and that will either justify a higher ticket price or cutting costs by finding what facilities or amenities cost and how much value they are to the customers </a:t>
            </a:r>
          </a:p>
          <a:p>
            <a:pPr marL="0" marR="0" lvl="0" indent="0" algn="l" rtl="0">
              <a:lnSpc>
                <a:spcPct val="100000"/>
              </a:lnSpc>
              <a:spcBef>
                <a:spcPts val="0"/>
              </a:spcBef>
              <a:spcAft>
                <a:spcPts val="0"/>
              </a:spcAft>
              <a:buClr>
                <a:srgbClr val="000000"/>
              </a:buClr>
              <a:buSzPts val="1400"/>
              <a:buFont typeface="Arial"/>
              <a:buNone/>
            </a:pPr>
            <a:endParaRPr lang="en-AU"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p:nvPr/>
        </p:nvSpPr>
        <p:spPr>
          <a:xfrm>
            <a:off x="507251" y="1145055"/>
            <a:ext cx="7983071" cy="2283945"/>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sz="1600" dirty="0"/>
              <a:t>The current price was just a guesstimate of upscaling the average price, and Montana big mountain was the highest priced resort from our data in the state of Montana, our model supports a price of $95.87 even though that’s a big jump from $81, The data confirms that Big Mountain is over-delivering on value relative to its current price point. Across hundreds of resorts, we found that the features Big Mountain excels in are the same ones that consumers most highly value. This evidence suggests that facilities are currently being sold at a 'discount' compared to national competitors with similar infrastructure.</a:t>
            </a:r>
          </a:p>
        </p:txBody>
      </p:sp>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Price Recommendation</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507250" y="3621561"/>
            <a:ext cx="7983071" cy="2283945"/>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sz="1600" dirty="0"/>
              <a:t>Our recommendation would be to raise the price over three seasons to avoid customers ticket shock as the price was the highest in the state already! And jumping from $81 to $95.87 is a big jump! However for every $5 increase we are looking at a $8,750,000 increase in revenue per season! </a:t>
            </a:r>
          </a:p>
          <a:p>
            <a:endParaRPr lang="en-US" sz="1600" dirty="0"/>
          </a:p>
        </p:txBody>
      </p:sp>
    </p:spTree>
    <p:extLst>
      <p:ext uri="{BB962C8B-B14F-4D97-AF65-F5344CB8AC3E}">
        <p14:creationId xmlns:p14="http://schemas.microsoft.com/office/powerpoint/2010/main" val="2788080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is doing well for vertical drop, but there are still quite a few resorts with a greater drop.</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spTree>
    <p:extLst>
      <p:ext uri="{BB962C8B-B14F-4D97-AF65-F5344CB8AC3E}">
        <p14:creationId xmlns:p14="http://schemas.microsoft.com/office/powerpoint/2010/main" val="402407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is very high up the league table of snow making area.</a:t>
            </a:r>
          </a:p>
        </p:txBody>
      </p:sp>
      <p:pic>
        <p:nvPicPr>
          <p:cNvPr id="5" name="Picture 4">
            <a:extLst>
              <a:ext uri="{FF2B5EF4-FFF2-40B4-BE49-F238E27FC236}">
                <a16:creationId xmlns:a16="http://schemas.microsoft.com/office/drawing/2014/main" id="{789537BF-A5AA-9E4B-A3E3-7AEB48BBB5ED}"/>
              </a:ext>
            </a:extLst>
          </p:cNvPr>
          <p:cNvPicPr>
            <a:picLocks noChangeAspect="1"/>
          </p:cNvPicPr>
          <p:nvPr/>
        </p:nvPicPr>
        <p:blipFill>
          <a:blip r:embed="rId3"/>
          <a:stretch>
            <a:fillRect/>
          </a:stretch>
        </p:blipFill>
        <p:spPr>
          <a:xfrm>
            <a:off x="625316" y="1363132"/>
            <a:ext cx="7433590" cy="4131734"/>
          </a:xfrm>
          <a:prstGeom prst="rect">
            <a:avLst/>
          </a:prstGeom>
        </p:spPr>
      </p:pic>
    </p:spTree>
    <p:extLst>
      <p:ext uri="{BB962C8B-B14F-4D97-AF65-F5344CB8AC3E}">
        <p14:creationId xmlns:p14="http://schemas.microsoft.com/office/powerpoint/2010/main" val="1812828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has amongst the highest number of total chairs, resorts with more appear to be outliers.</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pic>
        <p:nvPicPr>
          <p:cNvPr id="3" name="Picture 2">
            <a:extLst>
              <a:ext uri="{FF2B5EF4-FFF2-40B4-BE49-F238E27FC236}">
                <a16:creationId xmlns:a16="http://schemas.microsoft.com/office/drawing/2014/main" id="{8FDF18E0-FC08-9C43-A656-D876B554AC48}"/>
              </a:ext>
            </a:extLst>
          </p:cNvPr>
          <p:cNvPicPr>
            <a:picLocks noChangeAspect="1"/>
          </p:cNvPicPr>
          <p:nvPr/>
        </p:nvPicPr>
        <p:blipFill>
          <a:blip r:embed="rId4"/>
          <a:stretch>
            <a:fillRect/>
          </a:stretch>
        </p:blipFill>
        <p:spPr>
          <a:xfrm>
            <a:off x="652910" y="1363131"/>
            <a:ext cx="7433591" cy="4131735"/>
          </a:xfrm>
          <a:prstGeom prst="rect">
            <a:avLst/>
          </a:prstGeom>
        </p:spPr>
      </p:pic>
    </p:spTree>
    <p:extLst>
      <p:ext uri="{BB962C8B-B14F-4D97-AF65-F5344CB8AC3E}">
        <p14:creationId xmlns:p14="http://schemas.microsoft.com/office/powerpoint/2010/main" val="985474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Most resorts have no fast quads. Big Mountain has 3, which puts it high up that league table. There are some values much higher, but they are rare.</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pic>
        <p:nvPicPr>
          <p:cNvPr id="3" name="Picture 2">
            <a:extLst>
              <a:ext uri="{FF2B5EF4-FFF2-40B4-BE49-F238E27FC236}">
                <a16:creationId xmlns:a16="http://schemas.microsoft.com/office/drawing/2014/main" id="{6D34E2D0-612A-5940-9830-37724B24F798}"/>
              </a:ext>
            </a:extLst>
          </p:cNvPr>
          <p:cNvPicPr>
            <a:picLocks noChangeAspect="1"/>
          </p:cNvPicPr>
          <p:nvPr/>
        </p:nvPicPr>
        <p:blipFill>
          <a:blip r:embed="rId4"/>
          <a:stretch>
            <a:fillRect/>
          </a:stretch>
        </p:blipFill>
        <p:spPr>
          <a:xfrm>
            <a:off x="652911" y="1363131"/>
            <a:ext cx="7433590" cy="4092847"/>
          </a:xfrm>
          <a:prstGeom prst="rect">
            <a:avLst/>
          </a:prstGeom>
        </p:spPr>
      </p:pic>
    </p:spTree>
    <p:extLst>
      <p:ext uri="{BB962C8B-B14F-4D97-AF65-F5344CB8AC3E}">
        <p14:creationId xmlns:p14="http://schemas.microsoft.com/office/powerpoint/2010/main" val="3488849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compares well for the number of runs. There are some resorts with more, but not many.</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pic>
        <p:nvPicPr>
          <p:cNvPr id="3" name="Picture 2">
            <a:extLst>
              <a:ext uri="{FF2B5EF4-FFF2-40B4-BE49-F238E27FC236}">
                <a16:creationId xmlns:a16="http://schemas.microsoft.com/office/drawing/2014/main" id="{4EA0EA6A-C005-F247-82DF-ED4D5577CF82}"/>
              </a:ext>
            </a:extLst>
          </p:cNvPr>
          <p:cNvPicPr>
            <a:picLocks noChangeAspect="1"/>
          </p:cNvPicPr>
          <p:nvPr/>
        </p:nvPicPr>
        <p:blipFill>
          <a:blip r:embed="rId4"/>
          <a:stretch>
            <a:fillRect/>
          </a:stretch>
        </p:blipFill>
        <p:spPr>
          <a:xfrm>
            <a:off x="652911" y="1363132"/>
            <a:ext cx="7433590" cy="4102500"/>
          </a:xfrm>
          <a:prstGeom prst="rect">
            <a:avLst/>
          </a:prstGeom>
        </p:spPr>
      </p:pic>
    </p:spTree>
    <p:extLst>
      <p:ext uri="{BB962C8B-B14F-4D97-AF65-F5344CB8AC3E}">
        <p14:creationId xmlns:p14="http://schemas.microsoft.com/office/powerpoint/2010/main" val="2176019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has one of the longest runs. Although it is just over half the length of the longest, the longer ones are rare.</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pic>
        <p:nvPicPr>
          <p:cNvPr id="3" name="Picture 2">
            <a:extLst>
              <a:ext uri="{FF2B5EF4-FFF2-40B4-BE49-F238E27FC236}">
                <a16:creationId xmlns:a16="http://schemas.microsoft.com/office/drawing/2014/main" id="{2459479B-1976-BC43-A547-3647184F704A}"/>
              </a:ext>
            </a:extLst>
          </p:cNvPr>
          <p:cNvPicPr>
            <a:picLocks noChangeAspect="1"/>
          </p:cNvPicPr>
          <p:nvPr/>
        </p:nvPicPr>
        <p:blipFill>
          <a:blip r:embed="rId4"/>
          <a:stretch>
            <a:fillRect/>
          </a:stretch>
        </p:blipFill>
        <p:spPr>
          <a:xfrm>
            <a:off x="652911" y="1363132"/>
            <a:ext cx="7433590" cy="4131734"/>
          </a:xfrm>
          <a:prstGeom prst="rect">
            <a:avLst/>
          </a:prstGeom>
        </p:spPr>
      </p:pic>
    </p:spTree>
    <p:extLst>
      <p:ext uri="{BB962C8B-B14F-4D97-AF65-F5344CB8AC3E}">
        <p14:creationId xmlns:p14="http://schemas.microsoft.com/office/powerpoint/2010/main" val="20212853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Features Analysis</a:t>
            </a:r>
            <a:endParaRPr dirty="0"/>
          </a:p>
        </p:txBody>
      </p:sp>
      <p:sp>
        <p:nvSpPr>
          <p:cNvPr id="39" name="Google Shape;20;p1">
            <a:extLst>
              <a:ext uri="{FF2B5EF4-FFF2-40B4-BE49-F238E27FC236}">
                <a16:creationId xmlns:a16="http://schemas.microsoft.com/office/drawing/2014/main" id="{DFCCB713-64E0-BF49-9EC5-468B809CAB3D}"/>
              </a:ext>
            </a:extLst>
          </p:cNvPr>
          <p:cNvSpPr/>
          <p:nvPr/>
        </p:nvSpPr>
        <p:spPr>
          <a:xfrm>
            <a:off x="492281" y="5724744"/>
            <a:ext cx="8159437"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Big Mountain is amongst the resorts with the largest amount of skiable terrain.</a:t>
            </a:r>
          </a:p>
        </p:txBody>
      </p:sp>
      <p:pic>
        <p:nvPicPr>
          <p:cNvPr id="2" name="Picture 1">
            <a:extLst>
              <a:ext uri="{FF2B5EF4-FFF2-40B4-BE49-F238E27FC236}">
                <a16:creationId xmlns:a16="http://schemas.microsoft.com/office/drawing/2014/main" id="{AB2745A3-2CC8-CA47-A431-350A340DD787}"/>
              </a:ext>
            </a:extLst>
          </p:cNvPr>
          <p:cNvPicPr>
            <a:picLocks noChangeAspect="1"/>
          </p:cNvPicPr>
          <p:nvPr/>
        </p:nvPicPr>
        <p:blipFill>
          <a:blip r:embed="rId3"/>
          <a:stretch>
            <a:fillRect/>
          </a:stretch>
        </p:blipFill>
        <p:spPr>
          <a:xfrm>
            <a:off x="652911" y="1363132"/>
            <a:ext cx="7433591" cy="4131735"/>
          </a:xfrm>
          <a:prstGeom prst="rect">
            <a:avLst/>
          </a:prstGeom>
        </p:spPr>
      </p:pic>
      <p:pic>
        <p:nvPicPr>
          <p:cNvPr id="4" name="Picture 3">
            <a:extLst>
              <a:ext uri="{FF2B5EF4-FFF2-40B4-BE49-F238E27FC236}">
                <a16:creationId xmlns:a16="http://schemas.microsoft.com/office/drawing/2014/main" id="{F253752F-03EA-A343-BA3F-4EE94F9C0597}"/>
              </a:ext>
            </a:extLst>
          </p:cNvPr>
          <p:cNvPicPr>
            <a:picLocks noChangeAspect="1"/>
          </p:cNvPicPr>
          <p:nvPr/>
        </p:nvPicPr>
        <p:blipFill>
          <a:blip r:embed="rId4"/>
          <a:stretch>
            <a:fillRect/>
          </a:stretch>
        </p:blipFill>
        <p:spPr>
          <a:xfrm>
            <a:off x="652910" y="1363132"/>
            <a:ext cx="7433591" cy="4092848"/>
          </a:xfrm>
          <a:prstGeom prst="rect">
            <a:avLst/>
          </a:prstGeom>
        </p:spPr>
      </p:pic>
    </p:spTree>
    <p:extLst>
      <p:ext uri="{BB962C8B-B14F-4D97-AF65-F5344CB8AC3E}">
        <p14:creationId xmlns:p14="http://schemas.microsoft.com/office/powerpoint/2010/main" val="4051165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Scenario Exploration </a:t>
            </a:r>
            <a:endParaRPr dirty="0"/>
          </a:p>
        </p:txBody>
      </p:sp>
      <p:sp>
        <p:nvSpPr>
          <p:cNvPr id="20" name="Google Shape;20;p1"/>
          <p:cNvSpPr/>
          <p:nvPr/>
        </p:nvSpPr>
        <p:spPr>
          <a:xfrm>
            <a:off x="454109" y="1020686"/>
            <a:ext cx="8150873" cy="53936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lvl="0"/>
            <a:r>
              <a:rPr lang="en-US" dirty="0"/>
              <a:t>Scenario: Permanently closing down up to 10 of the least used runs. This doesn't impact any other resort statistics.</a:t>
            </a:r>
          </a:p>
        </p:txBody>
      </p:sp>
      <p:sp>
        <p:nvSpPr>
          <p:cNvPr id="9" name="Google Shape;22;p1">
            <a:extLst>
              <a:ext uri="{FF2B5EF4-FFF2-40B4-BE49-F238E27FC236}">
                <a16:creationId xmlns:a16="http://schemas.microsoft.com/office/drawing/2014/main" id="{3571CC4E-B3BD-E742-8B10-ECCE2444C91A}"/>
              </a:ext>
            </a:extLst>
          </p:cNvPr>
          <p:cNvSpPr/>
          <p:nvPr/>
        </p:nvSpPr>
        <p:spPr>
          <a:xfrm>
            <a:off x="117669" y="102068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1</a:t>
            </a:r>
            <a:endParaRPr sz="1428" b="0" i="0" u="none" strike="noStrike" cap="none" dirty="0">
              <a:solidFill>
                <a:schemeClr val="lt1"/>
              </a:solidFill>
              <a:latin typeface="Arial"/>
              <a:ea typeface="Arial"/>
              <a:cs typeface="Arial"/>
              <a:sym typeface="Arial"/>
            </a:endParaRPr>
          </a:p>
        </p:txBody>
      </p:sp>
      <p:pic>
        <p:nvPicPr>
          <p:cNvPr id="2" name="Picture 1">
            <a:extLst>
              <a:ext uri="{FF2B5EF4-FFF2-40B4-BE49-F238E27FC236}">
                <a16:creationId xmlns:a16="http://schemas.microsoft.com/office/drawing/2014/main" id="{E10A7016-DB7A-1449-B365-57C71C3E9FE3}"/>
              </a:ext>
            </a:extLst>
          </p:cNvPr>
          <p:cNvPicPr>
            <a:picLocks noChangeAspect="1"/>
          </p:cNvPicPr>
          <p:nvPr/>
        </p:nvPicPr>
        <p:blipFill>
          <a:blip r:embed="rId3"/>
          <a:stretch>
            <a:fillRect/>
          </a:stretch>
        </p:blipFill>
        <p:spPr>
          <a:xfrm>
            <a:off x="847121" y="1684422"/>
            <a:ext cx="7045171" cy="3807321"/>
          </a:xfrm>
          <a:prstGeom prst="rect">
            <a:avLst/>
          </a:prstGeom>
        </p:spPr>
      </p:pic>
      <p:sp>
        <p:nvSpPr>
          <p:cNvPr id="14" name="Google Shape;20;p1">
            <a:extLst>
              <a:ext uri="{FF2B5EF4-FFF2-40B4-BE49-F238E27FC236}">
                <a16:creationId xmlns:a16="http://schemas.microsoft.com/office/drawing/2014/main" id="{6E841E38-19C3-C84E-84DD-B6317721FB6D}"/>
              </a:ext>
            </a:extLst>
          </p:cNvPr>
          <p:cNvSpPr/>
          <p:nvPr/>
        </p:nvSpPr>
        <p:spPr>
          <a:xfrm>
            <a:off x="454108" y="5491743"/>
            <a:ext cx="8150873" cy="1075701"/>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lvl="0"/>
            <a:r>
              <a:rPr lang="en-US" dirty="0"/>
              <a:t>Our model graph shows closing one run makes no difference. Closing 2 and 3 successively reduces support for ticket price and so revenue. If Big Mountain closes down 3 runs, it seems they may as well close down 4 or 5 as there's no further loss in ticket price. Increasing the closures down to 6 or more leads to a large drop.</a:t>
            </a:r>
          </a:p>
        </p:txBody>
      </p:sp>
    </p:spTree>
    <p:extLst>
      <p:ext uri="{BB962C8B-B14F-4D97-AF65-F5344CB8AC3E}">
        <p14:creationId xmlns:p14="http://schemas.microsoft.com/office/powerpoint/2010/main" val="183199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Scenario Exploration </a:t>
            </a:r>
            <a:endParaRPr dirty="0"/>
          </a:p>
        </p:txBody>
      </p:sp>
      <p:sp>
        <p:nvSpPr>
          <p:cNvPr id="20" name="Google Shape;20;p1"/>
          <p:cNvSpPr/>
          <p:nvPr/>
        </p:nvSpPr>
        <p:spPr>
          <a:xfrm>
            <a:off x="454109" y="1020685"/>
            <a:ext cx="8150873" cy="1212376"/>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lvl="0"/>
            <a:r>
              <a:rPr lang="en-US" dirty="0"/>
              <a:t>Scenario: Increase the vertical drop by adding a run to a point 150 feet lower down but requiring the installation of an additional chair lift to bring skiers back up, without additional snow making coverage</a:t>
            </a:r>
          </a:p>
          <a:p>
            <a:pPr lvl="0"/>
            <a:endParaRPr lang="en-US" dirty="0"/>
          </a:p>
          <a:p>
            <a:pPr lvl="0"/>
            <a:r>
              <a:rPr lang="en-US" dirty="0"/>
              <a:t>Findings: This scenario increases support for ticket price by $1.99 Over the season, this could be expected to amount to $3,474,638</a:t>
            </a:r>
          </a:p>
        </p:txBody>
      </p:sp>
      <p:sp>
        <p:nvSpPr>
          <p:cNvPr id="9" name="Google Shape;22;p1">
            <a:extLst>
              <a:ext uri="{FF2B5EF4-FFF2-40B4-BE49-F238E27FC236}">
                <a16:creationId xmlns:a16="http://schemas.microsoft.com/office/drawing/2014/main" id="{3571CC4E-B3BD-E742-8B10-ECCE2444C91A}"/>
              </a:ext>
            </a:extLst>
          </p:cNvPr>
          <p:cNvSpPr/>
          <p:nvPr/>
        </p:nvSpPr>
        <p:spPr>
          <a:xfrm>
            <a:off x="117669" y="1020686"/>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1</a:t>
            </a:r>
            <a:endParaRPr sz="1428" b="0" i="0" u="none" strike="noStrike" cap="none" dirty="0">
              <a:solidFill>
                <a:schemeClr val="lt1"/>
              </a:solidFill>
              <a:latin typeface="Arial"/>
              <a:ea typeface="Arial"/>
              <a:cs typeface="Arial"/>
              <a:sym typeface="Arial"/>
            </a:endParaRPr>
          </a:p>
        </p:txBody>
      </p:sp>
      <p:sp>
        <p:nvSpPr>
          <p:cNvPr id="12" name="Google Shape;20;p1">
            <a:extLst>
              <a:ext uri="{FF2B5EF4-FFF2-40B4-BE49-F238E27FC236}">
                <a16:creationId xmlns:a16="http://schemas.microsoft.com/office/drawing/2014/main" id="{77D61EB8-0D5E-3C49-B0D6-60AE4AFB726B}"/>
              </a:ext>
            </a:extLst>
          </p:cNvPr>
          <p:cNvSpPr/>
          <p:nvPr/>
        </p:nvSpPr>
        <p:spPr>
          <a:xfrm>
            <a:off x="472499" y="2813111"/>
            <a:ext cx="8150873" cy="1046620"/>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lvl="0"/>
            <a:r>
              <a:rPr lang="en-US" dirty="0"/>
              <a:t>Scenario: Same as number 2, but adding 2 acres of snow making cover</a:t>
            </a:r>
          </a:p>
          <a:p>
            <a:pPr lvl="0"/>
            <a:endParaRPr lang="en-US" dirty="0"/>
          </a:p>
          <a:p>
            <a:pPr lvl="0"/>
            <a:r>
              <a:rPr lang="en-US" dirty="0"/>
              <a:t>Findings: same outcome as scenario #2 Such a small increase in the snow making area makes no difference!</a:t>
            </a:r>
          </a:p>
        </p:txBody>
      </p:sp>
      <p:sp>
        <p:nvSpPr>
          <p:cNvPr id="13" name="Google Shape;20;p1">
            <a:extLst>
              <a:ext uri="{FF2B5EF4-FFF2-40B4-BE49-F238E27FC236}">
                <a16:creationId xmlns:a16="http://schemas.microsoft.com/office/drawing/2014/main" id="{C3F4D236-B991-B84E-AAB4-82446E1486E7}"/>
              </a:ext>
            </a:extLst>
          </p:cNvPr>
          <p:cNvSpPr/>
          <p:nvPr/>
        </p:nvSpPr>
        <p:spPr>
          <a:xfrm>
            <a:off x="472499" y="4508001"/>
            <a:ext cx="8199001" cy="1450037"/>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pPr lvl="0"/>
            <a:r>
              <a:rPr lang="en-US" dirty="0"/>
              <a:t>Scenario: Increase the longest run by 0.2 mile to boast 3.5 miles length, requiring an additional snow making coverage of 4 acres</a:t>
            </a:r>
          </a:p>
          <a:p>
            <a:pPr lvl="0"/>
            <a:endParaRPr lang="en-US" dirty="0"/>
          </a:p>
          <a:p>
            <a:pPr lvl="0"/>
            <a:r>
              <a:rPr lang="en-US" dirty="0"/>
              <a:t>Findings: No difference whatsoever. Although the longest run feature was used in the linear model, the random forest model (the one we chose because of its better performance) only has longest run way down in the feature importance list.</a:t>
            </a:r>
          </a:p>
        </p:txBody>
      </p:sp>
      <p:sp>
        <p:nvSpPr>
          <p:cNvPr id="15" name="Google Shape;27;p1">
            <a:extLst>
              <a:ext uri="{FF2B5EF4-FFF2-40B4-BE49-F238E27FC236}">
                <a16:creationId xmlns:a16="http://schemas.microsoft.com/office/drawing/2014/main" id="{07303AAC-BA9B-C147-9AAD-186609AACD43}"/>
              </a:ext>
            </a:extLst>
          </p:cNvPr>
          <p:cNvSpPr/>
          <p:nvPr/>
        </p:nvSpPr>
        <p:spPr>
          <a:xfrm>
            <a:off x="117668" y="1020685"/>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dirty="0">
                <a:solidFill>
                  <a:schemeClr val="lt1"/>
                </a:solidFill>
                <a:latin typeface="Arial"/>
                <a:ea typeface="Arial"/>
                <a:cs typeface="Arial"/>
                <a:sym typeface="Arial"/>
              </a:rPr>
              <a:t>2</a:t>
            </a:r>
            <a:endParaRPr sz="1400" b="0" i="0" u="none" strike="noStrike" cap="none" dirty="0">
              <a:solidFill>
                <a:srgbClr val="000000"/>
              </a:solidFill>
              <a:latin typeface="Arial"/>
              <a:ea typeface="Arial"/>
              <a:cs typeface="Arial"/>
              <a:sym typeface="Arial"/>
            </a:endParaRPr>
          </a:p>
        </p:txBody>
      </p:sp>
      <p:sp>
        <p:nvSpPr>
          <p:cNvPr id="16" name="Google Shape;30;p1">
            <a:extLst>
              <a:ext uri="{FF2B5EF4-FFF2-40B4-BE49-F238E27FC236}">
                <a16:creationId xmlns:a16="http://schemas.microsoft.com/office/drawing/2014/main" id="{27AC5FA6-F4BA-0D46-96F2-B8E9193FF0AB}"/>
              </a:ext>
            </a:extLst>
          </p:cNvPr>
          <p:cNvSpPr/>
          <p:nvPr/>
        </p:nvSpPr>
        <p:spPr>
          <a:xfrm>
            <a:off x="109766" y="2815002"/>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7" name="Google Shape;23;p1">
            <a:extLst>
              <a:ext uri="{FF2B5EF4-FFF2-40B4-BE49-F238E27FC236}">
                <a16:creationId xmlns:a16="http://schemas.microsoft.com/office/drawing/2014/main" id="{C7EDAF09-A848-A64C-B1DF-3AD27B98B318}"/>
              </a:ext>
            </a:extLst>
          </p:cNvPr>
          <p:cNvSpPr/>
          <p:nvPr/>
        </p:nvSpPr>
        <p:spPr>
          <a:xfrm>
            <a:off x="117666" y="4488751"/>
            <a:ext cx="288315" cy="288315"/>
          </a:xfrm>
          <a:prstGeom prst="rect">
            <a:avLst/>
          </a:prstGeom>
          <a:solidFill>
            <a:srgbClr val="F1A205"/>
          </a:solidFill>
          <a:ln>
            <a:noFill/>
          </a:ln>
        </p:spPr>
        <p:txBody>
          <a:bodyPr spcFirstLastPara="1" wrap="square" lIns="47575" tIns="47575" rIns="47575" bIns="47575" anchor="ctr" anchorCtr="0">
            <a:noAutofit/>
          </a:bodyPr>
          <a:lstStyle/>
          <a:p>
            <a:pPr marL="0" marR="0" lvl="0" indent="0" algn="l" rtl="0">
              <a:lnSpc>
                <a:spcPct val="100000"/>
              </a:lnSpc>
              <a:spcBef>
                <a:spcPts val="0"/>
              </a:spcBef>
              <a:spcAft>
                <a:spcPts val="0"/>
              </a:spcAft>
              <a:buClr>
                <a:srgbClr val="000000"/>
              </a:buClr>
              <a:buSzPts val="1428"/>
              <a:buFont typeface="Arial"/>
              <a:buNone/>
            </a:pPr>
            <a:r>
              <a:rPr lang="en-AU" sz="1428"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79393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45" name="Google Shape;45;p1"/>
          <p:cNvSpPr/>
          <p:nvPr/>
        </p:nvSpPr>
        <p:spPr>
          <a:xfrm>
            <a:off x="507251" y="308008"/>
            <a:ext cx="7724912" cy="539366"/>
          </a:xfrm>
          <a:prstGeom prst="wedgeRectCallout">
            <a:avLst>
              <a:gd name="adj1" fmla="val 53513"/>
              <a:gd name="adj2" fmla="val 6588"/>
            </a:avLst>
          </a:prstGeom>
          <a:solidFill>
            <a:srgbClr val="FEF2D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46" name="Google Shape;46;p1"/>
          <p:cNvSpPr txBox="1">
            <a:spLocks noGrp="1"/>
          </p:cNvSpPr>
          <p:nvPr>
            <p:ph type="title"/>
          </p:nvPr>
        </p:nvSpPr>
        <p:spPr>
          <a:xfrm>
            <a:off x="175202" y="404289"/>
            <a:ext cx="8793596" cy="539366"/>
          </a:xfrm>
          <a:prstGeom prst="rect">
            <a:avLst/>
          </a:prstGeom>
          <a:noFill/>
          <a:ln>
            <a:noFill/>
          </a:ln>
        </p:spPr>
        <p:txBody>
          <a:bodyPr spcFirstLastPara="1" wrap="square" lIns="0" tIns="0" rIns="0" bIns="0" anchor="t" anchorCtr="0">
            <a:noAutofit/>
          </a:bodyPr>
          <a:lstStyle/>
          <a:p>
            <a:pPr lvl="0" algn="ctr"/>
            <a:r>
              <a:rPr lang="en-US" sz="2000" dirty="0"/>
              <a:t>Modeling technicalities </a:t>
            </a:r>
            <a:endParaRPr dirty="0"/>
          </a:p>
        </p:txBody>
      </p:sp>
      <p:sp>
        <p:nvSpPr>
          <p:cNvPr id="20" name="Google Shape;20;p1"/>
          <p:cNvSpPr/>
          <p:nvPr/>
        </p:nvSpPr>
        <p:spPr>
          <a:xfrm>
            <a:off x="454109" y="1020685"/>
            <a:ext cx="8150873" cy="1222001"/>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We started with an initial model to predict missing values first and tested both the mean and median to be used to fill in the missing values, the median gave a slightly more accurate data and that’s what we used in our model to fill in the missing data. We used two types of pipelines one using linear regression and another using random forest, the model using random forest gave a more accurate pricing prediction</a:t>
            </a:r>
          </a:p>
        </p:txBody>
      </p:sp>
      <p:sp>
        <p:nvSpPr>
          <p:cNvPr id="13" name="Google Shape;20;p1">
            <a:extLst>
              <a:ext uri="{FF2B5EF4-FFF2-40B4-BE49-F238E27FC236}">
                <a16:creationId xmlns:a16="http://schemas.microsoft.com/office/drawing/2014/main" id="{C3F4D236-B991-B84E-AAB4-82446E1486E7}"/>
              </a:ext>
            </a:extLst>
          </p:cNvPr>
          <p:cNvSpPr/>
          <p:nvPr/>
        </p:nvSpPr>
        <p:spPr>
          <a:xfrm>
            <a:off x="507251" y="6349265"/>
            <a:ext cx="8097730" cy="288142"/>
          </a:xfrm>
          <a:prstGeom prst="rect">
            <a:avLst/>
          </a:prstGeom>
          <a:solidFill>
            <a:schemeClr val="lt1"/>
          </a:solidFill>
          <a:ln w="19050" cap="flat" cmpd="sng">
            <a:solidFill>
              <a:schemeClr val="accent5"/>
            </a:solidFill>
            <a:prstDash val="solid"/>
            <a:miter lim="800000"/>
            <a:headEnd type="none" w="sm" len="sm"/>
            <a:tailEnd type="none" w="sm" len="sm"/>
          </a:ln>
        </p:spPr>
        <p:txBody>
          <a:bodyPr spcFirstLastPara="1" wrap="square" lIns="91425" tIns="45700" rIns="91425" bIns="45700" anchor="ctr" anchorCtr="0">
            <a:noAutofit/>
          </a:bodyPr>
          <a:lstStyle/>
          <a:p>
            <a:r>
              <a:rPr lang="en-US" dirty="0"/>
              <a:t>the best random forest regressor feature by importance was as shown in the graph</a:t>
            </a:r>
          </a:p>
        </p:txBody>
      </p:sp>
      <p:sp>
        <p:nvSpPr>
          <p:cNvPr id="2" name="Rectangle 2">
            <a:extLst>
              <a:ext uri="{FF2B5EF4-FFF2-40B4-BE49-F238E27FC236}">
                <a16:creationId xmlns:a16="http://schemas.microsoft.com/office/drawing/2014/main" id="{0F7AE3EC-CF4D-6B4D-A8A9-3401FAC92F80}"/>
              </a:ext>
            </a:extLst>
          </p:cNvPr>
          <p:cNvSpPr>
            <a:spLocks noChangeArrowheads="1"/>
          </p:cNvSpPr>
          <p:nvPr/>
        </p:nvSpPr>
        <p:spPr bwMode="auto">
          <a:xfrm flipV="1">
            <a:off x="1588168" y="2695100"/>
            <a:ext cx="8728864"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5" name="Picture 4" descr="/Users/osama/Library/Containers/com.microsoft.Word/Data/tmp/WebArchiveCopyPasteTempFiles/c+Zpyc+mHeAAAAABJRU5ErkJggg==">
            <a:extLst>
              <a:ext uri="{FF2B5EF4-FFF2-40B4-BE49-F238E27FC236}">
                <a16:creationId xmlns:a16="http://schemas.microsoft.com/office/drawing/2014/main" id="{4144C2DA-76A5-6643-8983-8C7274662150}"/>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078027" y="2318928"/>
            <a:ext cx="6477805" cy="3937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829978"/>
      </p:ext>
    </p:extLst>
  </p:cSld>
  <p:clrMapOvr>
    <a:masterClrMapping/>
  </p:clrMapOvr>
</p:sld>
</file>

<file path=ppt/theme/theme1.xml><?xml version="1.0" encoding="utf-8"?>
<a:theme xmlns:a="http://schemas.openxmlformats.org/drawingml/2006/main" name="Synergy_CF_YNR002">
  <a:themeElements>
    <a:clrScheme name="Current">
      <a:dk1>
        <a:srgbClr val="002C46"/>
      </a:dk1>
      <a:lt1>
        <a:srgbClr val="FFFFFF"/>
      </a:lt1>
      <a:dk2>
        <a:srgbClr val="FBC14E"/>
      </a:dk2>
      <a:lt2>
        <a:srgbClr val="879C16"/>
      </a:lt2>
      <a:accent1>
        <a:srgbClr val="99AABE"/>
      </a:accent1>
      <a:accent2>
        <a:srgbClr val="406085"/>
      </a:accent2>
      <a:accent3>
        <a:srgbClr val="002C46"/>
      </a:accent3>
      <a:accent4>
        <a:srgbClr val="FBC14E"/>
      </a:accent4>
      <a:accent5>
        <a:srgbClr val="379BBD"/>
      </a:accent5>
      <a:accent6>
        <a:srgbClr val="808080"/>
      </a:accent6>
      <a:hlink>
        <a:srgbClr val="002C46"/>
      </a:hlink>
      <a:folHlink>
        <a:srgbClr val="FBC14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3032</TotalTime>
  <Words>1082</Words>
  <Application>Microsoft Macintosh PowerPoint</Application>
  <PresentationFormat>On-screen Show (4:3)</PresentationFormat>
  <Paragraphs>86</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Quattrocento Sans</vt:lpstr>
      <vt:lpstr>Synergy_CF_YNR002</vt:lpstr>
      <vt:lpstr>Problem Statement Worksheet (Hypothesis Formation)</vt:lpstr>
      <vt:lpstr>Price Recommendation</vt:lpstr>
      <vt:lpstr>Features Analysis</vt:lpstr>
      <vt:lpstr>Features Analysis</vt:lpstr>
      <vt:lpstr>Features Analysis</vt:lpstr>
      <vt:lpstr>Features Analysis</vt:lpstr>
      <vt:lpstr>Features Analysis</vt:lpstr>
      <vt:lpstr>Features Analysis</vt:lpstr>
      <vt:lpstr>Features Analysis</vt:lpstr>
      <vt:lpstr>Scenario Exploration </vt:lpstr>
      <vt:lpstr>Scenario Exploration </vt:lpstr>
      <vt:lpstr>Modeling technicalities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Statement Worksheet (Hypothesis Formation)</dc:title>
  <dc:creator>Christopher H</dc:creator>
  <cp:lastModifiedBy>Terry Hamed</cp:lastModifiedBy>
  <cp:revision>19</cp:revision>
  <dcterms:modified xsi:type="dcterms:W3CDTF">2026-01-20T15:40:02Z</dcterms:modified>
</cp:coreProperties>
</file>